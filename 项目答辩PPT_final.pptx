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3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大学英语四六级抗遗忘复习系统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DDFF"/>
                </a:solidFill>
                <a:latin typeface="微软雅黑" panose="020B0503020204020204" charset="-122"/>
              </a:defRPr>
            </a:pPr>
            <a:r>
              <a:t>College English CET-4/6 Anti-Forgetting Review System Based on Multi-Agent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55EEF"/>
                </a:solidFill>
                <a:latin typeface="微软雅黑" panose="020B0503020204020204" charset="-122"/>
              </a:defRPr>
            </a:pPr>
            <a:r>
              <a:t>🤖  多智能体协同  ·  📚  RAGFlow知识库增强  ·  🧠  艾宾浩斯遗忘曲线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课程项目答辩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2026年7月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团队成员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EE"/>
                </a:solidFill>
                <a:latin typeface="微软雅黑" panose="020B0503020204020204" charset="-122"/>
              </a:defRPr>
            </a:pPr>
            <a:r>
              <a:t>Team Members</a:t>
            </a:r>
          </a:p>
        </p:txBody>
      </p:sp>
      <p:sp>
        <p:nvSpPr>
          <p:cNvPr id="5" name="Rectangle 4"/>
          <p:cNvSpPr/>
          <p:nvPr>
            <p:custDataLst>
              <p:tags r:id="rId1"/>
            </p:custDataLst>
          </p:nvPr>
        </p:nvSpPr>
        <p:spPr>
          <a:xfrm>
            <a:off x="914400" y="1463040"/>
            <a:ext cx="103327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361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55EEF"/>
                </a:solidFill>
                <a:latin typeface="微软雅黑" panose="020B0503020204020204" charset="-122"/>
              </a:defRPr>
            </a:pPr>
            <a:r>
              <a:t>👤  成员一（组长）</a:t>
            </a:r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1371600" y="1901952"/>
            <a:ext cx="36576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姓名</a:t>
            </a:r>
            <a:r>
              <a:rPr lang="zh-CN"/>
              <a:t>：</a:t>
            </a:r>
            <a:r>
              <a:rPr lang="zh-CN" u="sng"/>
              <a:t>袁豪</a:t>
            </a:r>
            <a:r>
              <a:rPr lang="zh-CN"/>
              <a:t> </a:t>
            </a:r>
            <a:r>
              <a:rPr lang="en-US" altLang="zh-CN"/>
              <a:t>     </a:t>
            </a:r>
            <a:r>
              <a:t>学号：</a:t>
            </a:r>
            <a:r>
              <a:rPr lang="en-US" u="sng"/>
              <a:t>2023051611030</a:t>
            </a: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5029200" y="1719072"/>
            <a:ext cx="5943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职责：项目架构设计、LangGraph多智能体编排、核心代码开发</a:t>
            </a:r>
            <a:r>
              <a:rPr lang="zh-CN"/>
              <a:t>，统筹项目</a:t>
            </a:r>
            <a:r>
              <a:rPr lang="zh-CN"/>
              <a:t>进度</a:t>
            </a:r>
            <a:endParaRPr lang="zh-CN"/>
          </a:p>
        </p:txBody>
      </p:sp>
      <p:sp>
        <p:nvSpPr>
          <p:cNvPr id="9" name="Rectangle 8"/>
          <p:cNvSpPr/>
          <p:nvPr>
            <p:custDataLst>
              <p:tags r:id="rId4"/>
            </p:custDataLst>
          </p:nvPr>
        </p:nvSpPr>
        <p:spPr>
          <a:xfrm>
            <a:off x="914400" y="2514600"/>
            <a:ext cx="103327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5877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55EEF"/>
                </a:solidFill>
                <a:latin typeface="微软雅黑" panose="020B0503020204020204" charset="-122"/>
              </a:defRPr>
            </a:pPr>
            <a:r>
              <a:t>👤  成员二</a:t>
            </a: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1371600" y="2953512"/>
            <a:ext cx="36576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姓名：</a:t>
            </a:r>
            <a:r>
              <a:rPr lang="zh-CN" u="sng">
                <a:sym typeface="+mn-ea"/>
              </a:rPr>
              <a:t>谭桥峰</a:t>
            </a:r>
            <a:r>
              <a:t>  </a:t>
            </a:r>
            <a:r>
              <a:rPr lang="en-US"/>
              <a:t> </a:t>
            </a:r>
            <a:r>
              <a:t>学号：</a:t>
            </a:r>
            <a:r>
              <a:rPr lang="en-US" u="sng"/>
              <a:t>2023051611012</a:t>
            </a:r>
            <a:endParaRPr lang="en-US" u="sng"/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5029200" y="27706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职责：RAGFlow知识库搭建、数据导入与管理、API封装</a:t>
            </a:r>
          </a:p>
        </p:txBody>
      </p:sp>
      <p:sp>
        <p:nvSpPr>
          <p:cNvPr id="13" name="Rectangle 12"/>
          <p:cNvSpPr/>
          <p:nvPr>
            <p:custDataLst>
              <p:tags r:id="rId7"/>
            </p:custDataLst>
          </p:nvPr>
        </p:nvSpPr>
        <p:spPr>
          <a:xfrm>
            <a:off x="914400" y="3566160"/>
            <a:ext cx="103327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6393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55EEF"/>
                </a:solidFill>
                <a:latin typeface="微软雅黑" panose="020B0503020204020204" charset="-122"/>
              </a:defRPr>
            </a:pPr>
            <a:r>
              <a:t>👤  成员三</a:t>
            </a: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1371600" y="4005072"/>
            <a:ext cx="36576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姓名：</a:t>
            </a:r>
            <a:r>
              <a:rPr lang="zh-CN" u="sng">
                <a:sym typeface="+mn-ea"/>
              </a:rPr>
              <a:t>冉校川</a:t>
            </a:r>
            <a:r>
              <a:t> </a:t>
            </a:r>
            <a:r>
              <a:rPr lang="en-US"/>
              <a:t>  </a:t>
            </a:r>
            <a:r>
              <a:t>学号：</a:t>
            </a:r>
            <a:r>
              <a:rPr lang="en-US" u="sng"/>
              <a:t>2023051611010</a:t>
            </a:r>
            <a:endParaRPr lang="en-US" u="sng"/>
          </a:p>
        </p:txBody>
      </p:sp>
      <p:sp>
        <p:nvSpPr>
          <p:cNvPr id="16" name="TextBox 15"/>
          <p:cNvSpPr txBox="1"/>
          <p:nvPr>
            <p:custDataLst>
              <p:tags r:id="rId9"/>
            </p:custDataLst>
          </p:nvPr>
        </p:nvSpPr>
        <p:spPr>
          <a:xfrm>
            <a:off x="5029200" y="3822191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职责：前端页面开发（Tailwind CSS + 原生JS）、交互设计</a:t>
            </a:r>
          </a:p>
        </p:txBody>
      </p:sp>
      <p:sp>
        <p:nvSpPr>
          <p:cNvPr id="17" name="Rectangle 16"/>
          <p:cNvSpPr/>
          <p:nvPr>
            <p:custDataLst>
              <p:tags r:id="rId10"/>
            </p:custDataLst>
          </p:nvPr>
        </p:nvSpPr>
        <p:spPr>
          <a:xfrm>
            <a:off x="914400" y="4617720"/>
            <a:ext cx="103327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6908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55EEF"/>
                </a:solidFill>
                <a:latin typeface="微软雅黑" panose="020B0503020204020204" charset="-122"/>
              </a:defRPr>
            </a:pPr>
            <a:r>
              <a:t>👤  成员四</a:t>
            </a:r>
          </a:p>
        </p:txBody>
      </p:sp>
      <p:sp>
        <p:nvSpPr>
          <p:cNvPr id="19" name="TextBox 18"/>
          <p:cNvSpPr txBox="1"/>
          <p:nvPr>
            <p:custDataLst>
              <p:tags r:id="rId11"/>
            </p:custDataLst>
          </p:nvPr>
        </p:nvSpPr>
        <p:spPr>
          <a:xfrm>
            <a:off x="1371600" y="5056631"/>
            <a:ext cx="36576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姓名：</a:t>
            </a:r>
            <a:r>
              <a:rPr lang="zh-CN" u="sng"/>
              <a:t>詹子轩</a:t>
            </a:r>
            <a:r>
              <a:t>  </a:t>
            </a:r>
            <a:r>
              <a:rPr lang="en-US"/>
              <a:t> </a:t>
            </a:r>
            <a:r>
              <a:t>学号：</a:t>
            </a:r>
            <a:r>
              <a:rPr lang="en-US" u="sng"/>
              <a:t>2023051611002</a:t>
            </a:r>
            <a:endParaRPr lang="en-US" u="sng"/>
          </a:p>
        </p:txBody>
      </p:sp>
      <p:sp>
        <p:nvSpPr>
          <p:cNvPr id="20" name="TextBox 19"/>
          <p:cNvSpPr txBox="1"/>
          <p:nvPr>
            <p:custDataLst>
              <p:tags r:id="rId12"/>
            </p:custDataLst>
          </p:nvPr>
        </p:nvSpPr>
        <p:spPr>
          <a:xfrm>
            <a:off x="5029200" y="4873752"/>
            <a:ext cx="59436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职责：数据库设计、艾宾浩斯复习算法、测试与</a:t>
            </a:r>
            <a:r>
              <a:rPr lang="zh-CN"/>
              <a:t>优化前端</a:t>
            </a:r>
            <a:r>
              <a:rPr lang="zh-CN"/>
              <a:t>代码</a:t>
            </a:r>
            <a:endParaRPr lang="zh-CN"/>
          </a:p>
        </p:txBody>
      </p:sp>
      <p:sp>
        <p:nvSpPr>
          <p:cNvPr id="21" name="Rectangle 20"/>
          <p:cNvSpPr/>
          <p:nvPr>
            <p:custDataLst>
              <p:tags r:id="rId13"/>
            </p:custDataLst>
          </p:nvPr>
        </p:nvSpPr>
        <p:spPr>
          <a:xfrm>
            <a:off x="914400" y="5669279"/>
            <a:ext cx="103327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574243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55EEF"/>
                </a:solidFill>
                <a:latin typeface="微软雅黑" panose="020B0503020204020204" charset="-122"/>
              </a:defRPr>
            </a:pPr>
            <a:r>
              <a:t>👤  成员五</a:t>
            </a:r>
          </a:p>
        </p:txBody>
      </p:sp>
      <p:sp>
        <p:nvSpPr>
          <p:cNvPr id="23" name="TextBox 22"/>
          <p:cNvSpPr txBox="1"/>
          <p:nvPr>
            <p:custDataLst>
              <p:tags r:id="rId14"/>
            </p:custDataLst>
          </p:nvPr>
        </p:nvSpPr>
        <p:spPr>
          <a:xfrm>
            <a:off x="1371600" y="6108192"/>
            <a:ext cx="36576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姓名</a:t>
            </a:r>
            <a:r>
              <a:rPr lang="zh-CN"/>
              <a:t>：</a:t>
            </a:r>
            <a:r>
              <a:rPr u="sng"/>
              <a:t> </a:t>
            </a:r>
            <a:r>
              <a:rPr lang="zh-CN" u="sng"/>
              <a:t>傅</a:t>
            </a:r>
            <a:r>
              <a:rPr lang="zh-CN"/>
              <a:t>海洋</a:t>
            </a:r>
            <a:r>
              <a:rPr lang="en-US" altLang="zh-CN"/>
              <a:t>   </a:t>
            </a:r>
            <a:r>
              <a:t>学号：</a:t>
            </a:r>
            <a:r>
              <a:rPr lang="en-US" u="sng"/>
              <a:t>2023051611013</a:t>
            </a:r>
            <a:endParaRPr lang="en-US" u="sng"/>
          </a:p>
        </p:txBody>
      </p:sp>
      <p:sp>
        <p:nvSpPr>
          <p:cNvPr id="24" name="TextBox 23"/>
          <p:cNvSpPr txBox="1"/>
          <p:nvPr>
            <p:custDataLst>
              <p:tags r:id="rId15"/>
            </p:custDataLst>
          </p:nvPr>
        </p:nvSpPr>
        <p:spPr>
          <a:xfrm>
            <a:off x="5029200" y="5925312"/>
            <a:ext cx="59436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职责：</a:t>
            </a:r>
            <a:r>
              <a:rPr lang="zh-CN"/>
              <a:t>数据清洗、</a:t>
            </a:r>
            <a:r>
              <a:t>系统测试、演示录制、答辩材料准备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项目背景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EE"/>
                </a:solidFill>
                <a:latin typeface="微软雅黑" panose="020B0503020204020204" charset="-122"/>
              </a:defRPr>
            </a:pPr>
            <a:r>
              <a:t>Project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C2626"/>
                </a:solidFill>
                <a:latin typeface="微软雅黑" panose="020B0503020204020204" charset="-122"/>
              </a:defRPr>
            </a:pPr>
            <a:r>
              <a:t>📋  核心痛点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1.  传统刷题批改反馈慢，缺乏即时评分和个性化指导</a:t>
            </a:r>
          </a:p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2.  学生难以精准定位薄弱点（词汇/语法/方法/粗心）</a:t>
            </a:r>
          </a:p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3.  错题缺少系统性复习规划，遗忘率高、低效循环</a:t>
            </a:r>
          </a:p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4.  海量碎片化备考资料，学生不知如何高效检索</a:t>
            </a:r>
          </a:p>
          <a:p>
            <a:pPr>
              <a:spcAft>
                <a:spcPts val="1600"/>
              </a:spcAft>
              <a:defRPr sz="16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5.  教师无法全面掌握班级高频错误分布，教学缺乏数据支撑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530352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766E"/>
                </a:solidFill>
                <a:latin typeface="微软雅黑" panose="020B0503020204020204" charset="-122"/>
              </a:defRPr>
            </a:pPr>
            <a:r>
              <a:t>💡  AI解决方案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  <a:defRPr sz="15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✅  RAGFlow知识库：统一管理四六级词汇/语法/范文/真题/评分规则</a:t>
            </a:r>
          </a:p>
          <a:p>
            <a:pPr>
              <a:spcAft>
                <a:spcPts val="1350"/>
              </a:spcAft>
              <a:defRPr sz="15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✅  LLM智能批改：作文15分制打分 + 逐条点评 + 润色修改稿</a:t>
            </a:r>
          </a:p>
          <a:p>
            <a:pPr>
              <a:spcAft>
                <a:spcPts val="1350"/>
              </a:spcAft>
              <a:defRPr sz="15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✅  LLM翻译评分：识别中式英语/漏译/语法错误 + 地道优化译文</a:t>
            </a:r>
          </a:p>
          <a:p>
            <a:pPr>
              <a:spcAft>
                <a:spcPts val="1350"/>
              </a:spcAft>
              <a:defRPr sz="15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✅  艾宾浩斯复习：D1→D3→D7→D15四轮自动循环，抗遗忘加固</a:t>
            </a:r>
          </a:p>
          <a:p>
            <a:pPr>
              <a:spcAft>
                <a:spcPts val="1350"/>
              </a:spcAft>
              <a:defRPr sz="15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✅  低分自动关联：得分≤9分自动创建错题，纳入复习计划闭环</a:t>
            </a:r>
          </a:p>
          <a:p>
            <a:pPr>
              <a:spcAft>
                <a:spcPts val="1350"/>
              </a:spcAft>
              <a:defRPr sz="15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✅  管理员面板：高频错题统计 → 知识库迭代增补建议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技术方案 —— 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EE"/>
                </a:solidFill>
                <a:latin typeface="微软雅黑" panose="020B0503020204020204" charset="-122"/>
              </a:defRPr>
            </a:pPr>
            <a:r>
              <a:t>Technical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508760"/>
            <a:ext cx="103327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508760"/>
            <a:ext cx="137160" cy="868680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5819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55EEF"/>
                </a:solidFill>
                <a:latin typeface="微软雅黑" panose="020B0503020204020204" charset="-122"/>
              </a:defRPr>
            </a:pPr>
            <a:r>
              <a:t>🎨  前端层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4767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Tailwind CSS + 原生 JavaScript  SPA</a:t>
            </a:r>
            <a:br/>
            <a:r>
              <a:t>登录 / 作文批改 / 翻译评分 / 错题管理 / 知识检索 / OCR识题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514600"/>
            <a:ext cx="103327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514600"/>
            <a:ext cx="137160" cy="8686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5877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766E"/>
                </a:solidFill>
                <a:latin typeface="微软雅黑" panose="020B0503020204020204" charset="-122"/>
              </a:defRPr>
            </a:pPr>
            <a:r>
              <a:t>⚙️  后端层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5351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Python FastAPI (port 8000)</a:t>
            </a:r>
            <a:br/>
            <a:r>
              <a:t>RESTful API：登录鉴权、业务提交、复习查询、错题CRUD、健康检查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520440"/>
            <a:ext cx="103327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520440"/>
            <a:ext cx="137160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5935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微软雅黑" panose="020B0503020204020204" charset="-122"/>
              </a:defRPr>
            </a:pPr>
            <a:r>
              <a:t>🧠  智能体编排层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95935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LangGraph StateGraph → 多节点协同</a:t>
            </a:r>
            <a:br/>
            <a:r>
              <a:t>Dispatcer → RAG检索 → Judge评分 / Synthesize整合 → 结果输出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103327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526280"/>
            <a:ext cx="137160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5994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微软雅黑" panose="020B0503020204020204" charset="-122"/>
              </a:defRPr>
            </a:pPr>
            <a:r>
              <a:t>🔍  知识检索层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96519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RAGFlow (Docker, port 9380) · 统一知识库 · 并行检索优化</a:t>
            </a:r>
            <a:br/>
            <a:r>
              <a:t>ThreadPoolExecutor 并行拉取 ← 避免串行超时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5532120"/>
            <a:ext cx="103327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5532120"/>
            <a:ext cx="137160" cy="8686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6052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微软雅黑" panose="020B0503020204020204" charset="-122"/>
              </a:defRPr>
            </a:pPr>
            <a:r>
              <a:t>💾  数据层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97103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MySQL 8.0 (port 3307)</a:t>
            </a:r>
            <a:br/>
            <a:r>
              <a:t>user / writing_submit / trans_submit / error_record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22860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55EEF"/>
                </a:solidFill>
                <a:latin typeface="微软雅黑" panose="020B0503020204020204" charset="-122"/>
              </a:defRPr>
            </a:pPr>
            <a:r>
              <a:t>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918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55EEF"/>
                </a:solidFill>
                <a:latin typeface="微软雅黑" panose="020B0503020204020204" charset="-122"/>
              </a:defRPr>
            </a:pPr>
            <a:r>
              <a:t>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42976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55EEF"/>
                </a:solidFill>
                <a:latin typeface="微软雅黑" panose="020B0503020204020204" charset="-122"/>
              </a:defRPr>
            </a:pPr>
            <a:r>
              <a:t>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5303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55EEF"/>
                </a:solidFill>
                <a:latin typeface="微软雅黑" panose="020B0503020204020204" charset="-122"/>
              </a:defRPr>
            </a:pPr>
            <a:r>
              <a:t>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技术方案 —— LangGraph 多智能体编排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EE"/>
                </a:solidFill>
                <a:latin typeface="微软雅黑" panose="020B0503020204020204" charset="-122"/>
              </a:defRPr>
            </a:pPr>
            <a:r>
              <a:t>Multi-Agent Orchestration with LangGraph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22860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65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55EEF"/>
                </a:solidFill>
                <a:latin typeface="微软雅黑" panose="020B0503020204020204" charset="-122"/>
              </a:defRPr>
            </a:pPr>
            <a:r>
              <a:t>📨 Dispatcher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任务分发</a:t>
            </a:r>
            <a:br/>
            <a:r>
              <a:t>路由判断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828800"/>
            <a:ext cx="22860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77640" y="1965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55EEF"/>
                </a:solidFill>
                <a:latin typeface="微软雅黑" panose="020B0503020204020204" charset="-122"/>
              </a:defRPr>
            </a:pPr>
            <a:r>
              <a:t>🔍 RAG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24231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知识库检索</a:t>
            </a:r>
            <a:br/>
            <a:r>
              <a:t>并行查询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1828800"/>
            <a:ext cx="22860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1965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55EEF"/>
                </a:solidFill>
                <a:latin typeface="微软雅黑" panose="020B0503020204020204" charset="-122"/>
              </a:defRPr>
            </a:pPr>
            <a:r>
              <a:t>⚖️ Judge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4231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作文/翻译</a:t>
            </a:r>
            <a:br/>
            <a:r>
              <a:t>智能评分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1828800"/>
            <a:ext cx="22860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29800" y="1965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55EEF"/>
                </a:solidFill>
                <a:latin typeface="微软雅黑" panose="020B0503020204020204" charset="-122"/>
              </a:defRPr>
            </a:pPr>
            <a:r>
              <a:t>🧠 Synthesize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0" y="24231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检索结果</a:t>
            </a:r>
            <a:br/>
            <a:r>
              <a:t>AI整合回答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4389120"/>
            <a:ext cx="22860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77640" y="4526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55EEF"/>
                </a:solidFill>
                <a:latin typeface="微软雅黑" panose="020B0503020204020204" charset="-122"/>
              </a:defRPr>
            </a:pPr>
            <a:r>
              <a:t>📋 Review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49834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艾宾浩斯</a:t>
            </a:r>
            <a:br/>
            <a:r>
              <a:t>复习计划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4389120"/>
            <a:ext cx="22860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3720" y="4526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55EEF"/>
                </a:solidFill>
                <a:latin typeface="微软雅黑" panose="020B0503020204020204" charset="-122"/>
              </a:defRPr>
            </a:pPr>
            <a:r>
              <a:t>📊 KB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49834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高频错题</a:t>
            </a:r>
            <a:br/>
            <a:r>
              <a:t>统计建议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55EEF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55EEF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377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55EEF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383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55EEF"/>
                </a:solidFill>
                <a:latin typeface="微软雅黑" panose="020B0503020204020204" charset="-122"/>
              </a:defRPr>
            </a:pPr>
            <a:r>
              <a:t>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5852160"/>
            <a:ext cx="1033272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59436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💡  设计亮点：LangGraph StateGraph 实现条件路由 →  写作/翻译任务: Dispatch→RAG→Judge  |  知识检索: Dispatch→RAG→Synthesize  |  复习: Dispatch→Review  |  管理: Dispatch→KB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核心技术栈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EE"/>
                </a:solidFill>
                <a:latin typeface="微软雅黑" panose="020B0503020204020204" charset="-122"/>
              </a:defRPr>
            </a:pPr>
            <a: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2468880" cy="73152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20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55EEF"/>
                </a:solidFill>
                <a:latin typeface="微软雅黑" panose="020B0503020204020204" charset="-122"/>
              </a:defRPr>
            </a:pPr>
            <a:r>
              <a:t>Python 3.12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423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后端主语言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880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FastAPI + LangGraph + pymysql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64592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1645920"/>
            <a:ext cx="246888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200" y="1920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3AED"/>
                </a:solidFill>
                <a:latin typeface="微软雅黑" panose="020B0503020204020204" charset="-122"/>
              </a:defRPr>
            </a:pPr>
            <a:r>
              <a:t>LangGraph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423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多智能体编排框架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880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StateGraph 条件路由 · 6节点协同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64592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645920"/>
            <a:ext cx="246888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1920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766E"/>
                </a:solidFill>
                <a:latin typeface="微软雅黑" panose="020B0503020204020204" charset="-122"/>
              </a:defRPr>
            </a:pPr>
            <a:r>
              <a:t>RAGFlow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423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RAG知识库引擎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880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Docker部署 · OpenAI兼容API · 统一知识库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64592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1645920"/>
            <a:ext cx="24688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1920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微软雅黑" panose="020B0503020204020204" charset="-122"/>
              </a:defRPr>
            </a:pPr>
            <a:r>
              <a:t>DeepSeek-V4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423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大语言模型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8803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通过RAGFlow代理调用 · 90s超时控制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402336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4023360"/>
            <a:ext cx="246888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C2626"/>
                </a:solidFill>
                <a:latin typeface="微软雅黑" panose="020B0503020204020204" charset="-122"/>
              </a:defRPr>
            </a:pPr>
            <a:r>
              <a:t>MySQL 8.0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800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关系型数据库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5257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4张业务表 · 艾宾浩斯复习节点追踪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402336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4023360"/>
            <a:ext cx="246888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86200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B6D4"/>
                </a:solidFill>
                <a:latin typeface="微软雅黑" panose="020B0503020204020204" charset="-122"/>
              </a:defRPr>
            </a:pPr>
            <a:r>
              <a:t>Tailwind CSS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6200" y="4800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前端框架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86200" y="5257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响应式SPA · 暗色模式自适应 · Font Awesome图标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02336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4023360"/>
            <a:ext cx="24688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微软雅黑" panose="020B0503020204020204" charset="-122"/>
              </a:defRPr>
            </a:pPr>
            <a:r>
              <a:t>ThreadPool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800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并行检索优化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5257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ThreadPoolExecutor(4) → 作文/翻译双检索并行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02336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44000" y="4023360"/>
            <a:ext cx="2468880" cy="73152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72600" y="4297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84CC16"/>
                </a:solidFill>
                <a:latin typeface="微软雅黑" panose="020B0503020204020204" charset="-122"/>
              </a:defRPr>
            </a:pPr>
            <a:r>
              <a:t>EasyOCR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72600" y="4800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光学字符识别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72600" y="5257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拍照识题 → 中英文OCR → LLM视觉回退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实现过程（一）—— 环境搭建与知识库构建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EE"/>
                </a:solidFill>
                <a:latin typeface="微软雅黑" panose="020B0503020204020204" charset="-122"/>
              </a:defRPr>
            </a:pPr>
            <a:r>
              <a:t>Implementation Process -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6984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55EEF"/>
                </a:solidFill>
                <a:latin typeface="微软雅黑" panose="020B0503020204020204" charset="-122"/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783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环境搭建与基础架构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50"/>
              </a:spcAft>
              <a:defRPr sz="15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• Docker 部署 RAGFlow v0.17 (localhost:9380)</a:t>
            </a:r>
          </a:p>
          <a:p>
            <a:pPr>
              <a:spcAft>
                <a:spcPts val="1050"/>
              </a:spcAft>
              <a:defRPr sz="15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• MySQL 8.0 数据库建表 (user / writing_submit / trans_submit / error_record)</a:t>
            </a:r>
          </a:p>
          <a:p>
            <a:pPr>
              <a:spcAft>
                <a:spcPts val="1050"/>
              </a:spcAft>
              <a:defRPr sz="15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• FastAPI 项目骨架搭建，配置 .env 环境变量</a:t>
            </a:r>
          </a:p>
          <a:p>
            <a:pPr>
              <a:spcAft>
                <a:spcPts val="1050"/>
              </a:spcAft>
              <a:defRPr sz="15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• 创建 RAGFlow 知识库 → 导入四六级资料数据集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023360"/>
            <a:ext cx="10698480" cy="24860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160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55EEF"/>
                </a:solidFill>
                <a:latin typeface="微软雅黑" panose="020B0503020204020204" charset="-122"/>
              </a:defRPr>
            </a:pPr>
            <a: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4160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知识库数据准备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6177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50"/>
              </a:spcAft>
              <a:defRPr sz="15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• 收集四六级考纲词汇表 (content_ltks 格式)</a:t>
            </a:r>
          </a:p>
          <a:p>
            <a:pPr>
              <a:spcAft>
                <a:spcPts val="1050"/>
              </a:spcAft>
              <a:defRPr sz="15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• 整理高分作文范文、评分标准（五档15分制）</a:t>
            </a:r>
          </a:p>
          <a:p>
            <a:pPr>
              <a:spcAft>
                <a:spcPts val="1050"/>
              </a:spcAft>
              <a:defRPr sz="15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• 翻译真题 + 参考译文 + 扣分细则文档</a:t>
            </a:r>
          </a:p>
          <a:p>
            <a:pPr>
              <a:spcAft>
                <a:spcPts val="1050"/>
              </a:spcAft>
              <a:defRPr sz="15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• 语法长难句、解题技巧、常见错误归纳</a:t>
            </a:r>
          </a:p>
          <a:p>
            <a:pPr>
              <a:spcAft>
                <a:spcPts val="1050"/>
              </a:spcAft>
              <a:defRPr sz="15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• 批量上传至 RAGFlow → 切片解析 → 向量化 (BAAI/bge-m3)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实现过程（二）—— 多智能体开发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EE"/>
                </a:solidFill>
                <a:latin typeface="微软雅黑" panose="020B0503020204020204" charset="-122"/>
              </a:defRPr>
            </a:pPr>
            <a:r>
              <a:t>Implementation Process -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6984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766E"/>
                </a:solidFill>
                <a:latin typeface="微软雅黑" panose="020B0503020204020204" charset="-122"/>
              </a:defRPr>
            </a:pPr>
            <a:r>
              <a:t>Phase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783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LangGraph 多智能体编排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50"/>
              </a:spcAft>
              <a:defRPr sz="15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• 定义 MultiAgentState（TypedDict）统一状态传递</a:t>
            </a:r>
          </a:p>
          <a:p>
            <a:pPr>
              <a:spcAft>
                <a:spcPts val="1050"/>
              </a:spcAft>
              <a:defRPr sz="15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• 实现 dispatch → rag → judge/synthesize 条件路由图</a:t>
            </a:r>
          </a:p>
          <a:p>
            <a:pPr>
              <a:spcAft>
                <a:spcPts val="1050"/>
              </a:spcAft>
              <a:defRPr sz="15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• 封装 llm_call() 统一调用入口（no-KB Chat Assistant + 回退策略）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023360"/>
            <a:ext cx="106984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160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766E"/>
                </a:solidFill>
                <a:latin typeface="微软雅黑" panose="020B0503020204020204" charset="-122"/>
              </a:defRPr>
            </a:pPr>
            <a:r>
              <a:t>Phase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4160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核心 Agent 实现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6177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50"/>
              </a:spcAft>
              <a:defRPr sz="15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• RAGAgent.route_search：智能路由 → 作文/翻译双检索并行 (ThreadPoolExecutor)</a:t>
            </a:r>
          </a:p>
          <a:p>
            <a:pPr>
              <a:spcAft>
                <a:spcPts val="1050"/>
              </a:spcAft>
              <a:defRPr sz="15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• JudgeAgent.judge_writing / judge_trans：LLM Prompt 工程 → JSON 结构化输出</a:t>
            </a:r>
          </a:p>
          <a:p>
            <a:pPr>
              <a:spcAft>
                <a:spcPts val="1050"/>
              </a:spcAft>
              <a:defRPr sz="15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• ReviewAgent.plan_review：艾宾浩斯 D1/D3/D7/D15 节点判断算法</a:t>
            </a:r>
          </a:p>
          <a:p>
            <a:pPr>
              <a:spcAft>
                <a:spcPts val="1050"/>
              </a:spcAft>
              <a:defRPr sz="15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• RAGSynthesizeAgent：检索结果截断(≤2500chars) → LLM整合 → 自然语言回答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实现过程（三）—— 前后端联调与优化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EE"/>
                </a:solidFill>
                <a:latin typeface="微软雅黑" panose="020B0503020204020204" charset="-122"/>
              </a:defRPr>
            </a:pPr>
            <a:r>
              <a:t>Implementation Process - Part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698480" cy="23679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微软雅黑" panose="020B0503020204020204" charset="-122"/>
              </a:defRPr>
            </a:pPr>
            <a:r>
              <a:t>Phase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783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前端 SPA 开发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40"/>
              </a:spcAft>
              <a:defRPr sz="145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• Tailwind CSS + 原生 JS 实现无刷新单页应用</a:t>
            </a:r>
          </a:p>
          <a:p>
            <a:pPr>
              <a:spcAft>
                <a:spcPts val="940"/>
              </a:spcAft>
              <a:defRPr sz="145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• 登录弹窗 → 角色路由（admin/student）→ 功能面板切换</a:t>
            </a:r>
          </a:p>
          <a:p>
            <a:pPr>
              <a:spcAft>
                <a:spcPts val="940"/>
              </a:spcAft>
              <a:defRPr sz="145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• 作文/翻译提交 → FormData POST → 异步渲染批改结果</a:t>
            </a:r>
          </a:p>
          <a:p>
            <a:pPr>
              <a:spcAft>
                <a:spcPts val="940"/>
              </a:spcAft>
              <a:defRPr sz="145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• 错题管理中心：手动添加 + 列表展示 + 逐阶段完成按钮</a:t>
            </a:r>
          </a:p>
          <a:p>
            <a:pPr>
              <a:spcAft>
                <a:spcPts val="940"/>
              </a:spcAft>
              <a:defRPr sz="145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• 知识库检索：类型选择 + 查询输入 → AI整合回答优先展示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342130"/>
            <a:ext cx="106984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562475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  <a:latin typeface="微软雅黑" panose="020B0503020204020204" charset="-122"/>
              </a:defRPr>
            </a:pPr>
            <a:r>
              <a:t>Phase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4562475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性能优化与超时治理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9834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40"/>
              </a:spcAft>
              <a:defRPr sz="145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• RAGFlow 检索：并行替代串行 (writing/trans 同时发两个检索请求)</a:t>
            </a:r>
          </a:p>
          <a:p>
            <a:pPr>
              <a:spcAft>
                <a:spcPts val="940"/>
              </a:spcAft>
              <a:defRPr sz="145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• Prompt 截断策略：检索结果 ≤ 5 chunks × 400 chars，总上下文 ≤ 2500 chars</a:t>
            </a:r>
          </a:p>
          <a:p>
            <a:pPr>
              <a:spcAft>
                <a:spcPts val="940"/>
              </a:spcAft>
              <a:defRPr sz="145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• LLM 超时控制：连接10s + 读取90s，no-KB助手避免冗余检索</a:t>
            </a:r>
          </a:p>
          <a:p>
            <a:pPr>
              <a:spcAft>
                <a:spcPts val="940"/>
              </a:spcAft>
              <a:defRPr sz="145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• 精细超时阈值测试：test_timeout_fine.py 从 5K→10K tokens 逐级测试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成果演示 —— 系统功能模块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EE"/>
                </a:solidFill>
                <a:latin typeface="微软雅黑" panose="020B0503020204020204" charset="-122"/>
              </a:defRPr>
            </a:pPr>
            <a:r>
              <a:t>System Features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2468880" cy="73152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155EEF"/>
                </a:solidFill>
                <a:latin typeface="微软雅黑" panose="020B0503020204020204" charset="-122"/>
              </a:defRPr>
            </a:pPr>
            <a:r>
              <a:t>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用户登录</a:t>
            </a:r>
            <a:br/>
            <a:r>
              <a:t>与角色鉴权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学生/管理员</a:t>
            </a:r>
            <a:br/>
            <a:r>
              <a:t>双角色路由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64592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1645920"/>
            <a:ext cx="246888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1874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0F766E"/>
                </a:solidFill>
                <a:latin typeface="微软雅黑" panose="020B0503020204020204" charset="-122"/>
              </a:defRPr>
            </a:pPr>
            <a:r>
              <a:t>✍️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4231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作文智能批改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063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15分制打分</a:t>
            </a:r>
            <a:br/>
            <a:r>
              <a:t>评语+润色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64592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645920"/>
            <a:ext cx="246888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874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7C3AED"/>
                </a:solidFill>
                <a:latin typeface="微软雅黑" panose="020B0503020204020204" charset="-122"/>
              </a:defRPr>
            </a:pPr>
            <a:r>
              <a:t>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4231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翻译智能评分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063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中式英语识别</a:t>
            </a:r>
            <a:br/>
            <a:r>
              <a:t>优化译文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64592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0" y="1645920"/>
            <a:ext cx="246888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1874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DC2626"/>
                </a:solidFill>
                <a:latin typeface="微软雅黑" panose="020B0503020204020204" charset="-122"/>
              </a:defRPr>
            </a:pPr>
            <a:r>
              <a:t>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42316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艾宾浩斯复习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0632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D1→D3→D7→D15</a:t>
            </a:r>
            <a:br/>
            <a:r>
              <a:t>自动循环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402336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4023360"/>
            <a:ext cx="24688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251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59E0B"/>
                </a:solidFill>
                <a:latin typeface="微软雅黑" panose="020B0503020204020204" charset="-122"/>
              </a:defRPr>
            </a:pPr>
            <a:r>
              <a:t>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8006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错题管理中心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440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手动/自动录入</a:t>
            </a:r>
            <a:br/>
            <a:r>
              <a:t>逐阶段标记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402336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4023360"/>
            <a:ext cx="246888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0" y="4251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06B6D4"/>
                </a:solidFill>
                <a:latin typeface="微软雅黑" panose="020B0503020204020204" charset="-122"/>
              </a:defRPr>
            </a:pPr>
            <a:r>
              <a:t>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48006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知识库全局检索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5440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RAG检索</a:t>
            </a:r>
            <a:br/>
            <a:r>
              <a:t>AI整合回答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02336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4023360"/>
            <a:ext cx="2468880" cy="73152"/>
          </a:xfrm>
          <a:prstGeom prst="rect">
            <a:avLst/>
          </a:prstGeom>
          <a:solidFill>
            <a:srgbClr val="84C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4251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84CC16"/>
                </a:solidFill>
                <a:latin typeface="微软雅黑" panose="020B0503020204020204" charset="-122"/>
              </a:defRPr>
            </a:pPr>
            <a:r>
              <a:t>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8006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管理员统计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440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高频错题分析</a:t>
            </a:r>
            <a:br/>
            <a:r>
              <a:t>知识库优化建议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4023360"/>
            <a:ext cx="24688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44000" y="4023360"/>
            <a:ext cx="24688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0" y="4251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59E0B"/>
                </a:solidFill>
                <a:latin typeface="微软雅黑" panose="020B0503020204020204" charset="-122"/>
              </a:defRPr>
            </a:pPr>
            <a:r>
              <a:t>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48006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OCR拍照识题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54406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EasyOCR+LLM</a:t>
            </a:r>
            <a:br/>
            <a:r>
              <a:t>双引擎回退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6400800"/>
            <a:ext cx="1005840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C2626"/>
                </a:solidFill>
                <a:latin typeface="微软雅黑" panose="020B0503020204020204" charset="-122"/>
              </a:defRPr>
            </a:pPr>
            <a:r>
              <a:t>📌  详细界面截图见后续幻灯片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成果演示 —— 首页与登录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EE"/>
                </a:solidFill>
                <a:latin typeface="微软雅黑" panose="020B0503020204020204" charset="-122"/>
              </a:defRPr>
            </a:pPr>
            <a:r>
              <a:t>Homepage &amp; Login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7315200" cy="4754880"/>
          </a:xfrm>
          <a:prstGeom prst="rect">
            <a:avLst/>
          </a:prstGeom>
          <a:solidFill>
            <a:srgbClr val="FFFFFF"/>
          </a:solidFill>
          <a:ln w="25400">
            <a:solidFill>
              <a:srgbClr val="155EE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1463040"/>
            <a:ext cx="34747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55EEF"/>
                </a:solidFill>
                <a:latin typeface="微软雅黑" panose="020B0503020204020204" charset="-122"/>
              </a:defRPr>
            </a:pPr>
            <a:r>
              <a:t>功能说明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766E"/>
                </a:solidFill>
                <a:latin typeface="微软雅黑" panose="020B0503020204020204" charset="-122"/>
              </a:defRPr>
            </a:pPr>
            <a:r>
              <a:t>登录弹窗 · 首页介绍 · 功能卡片 · 双角色入口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1089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展示系统首页全貌，包括顶部导航、登录弹窗、功能介绍卡片（作文/翻译/复习/知识库），以及学生和管理员双角色登录入口。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11</a:t>
            </a:r>
          </a:p>
        </p:txBody>
      </p:sp>
      <p:pic>
        <p:nvPicPr>
          <p:cNvPr id="13" name="图片 12" descr="屏幕截图 2026-07-07 1701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085" y="1462405"/>
            <a:ext cx="7286625" cy="47485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成果演示 —— 作文智能批改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EE"/>
                </a:solidFill>
                <a:latin typeface="微软雅黑" panose="020B0503020204020204" charset="-122"/>
              </a:defRPr>
            </a:pPr>
            <a:r>
              <a:t>Writing Correction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55675" y="1532255"/>
            <a:ext cx="6195060" cy="4626610"/>
          </a:xfrm>
          <a:prstGeom prst="rect">
            <a:avLst/>
          </a:prstGeom>
          <a:solidFill>
            <a:srgbClr val="FFFFFF"/>
          </a:solidFill>
          <a:ln w="25400">
            <a:solidFill>
              <a:srgbClr val="155EE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1463040"/>
            <a:ext cx="34747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55EEF"/>
                </a:solidFill>
                <a:latin typeface="微软雅黑" panose="020B0503020204020204" charset="-122"/>
              </a:defRPr>
            </a:pPr>
            <a:r>
              <a:t>功能说明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766E"/>
                </a:solidFill>
                <a:latin typeface="微软雅黑" panose="020B0503020204020204" charset="-122"/>
              </a:defRPr>
            </a:pPr>
            <a:r>
              <a:t>作文提交 → 15分制打分 → 详细评语 → 润色修改稿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0750" y="299212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左侧输入作文原文，点击提交后右侧展示：精确得分(满分15)、逐条点评(语病/词汇/逻辑/语法)、以及润色后的完整修改稿。≤9分自动纳入错题复习计划。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12</a:t>
            </a:r>
          </a:p>
        </p:txBody>
      </p:sp>
      <p:pic>
        <p:nvPicPr>
          <p:cNvPr id="13" name="图片 12" descr="屏幕截图 2026-07-07 1542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360" y="1523365"/>
            <a:ext cx="6175375" cy="46348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成果演示 —— 翻译智能评分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EE"/>
                </a:solidFill>
                <a:latin typeface="微软雅黑" panose="020B0503020204020204" charset="-122"/>
              </a:defRPr>
            </a:pPr>
            <a:r>
              <a:t>Translation Scoring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1470" y="1480820"/>
            <a:ext cx="5442585" cy="4737100"/>
          </a:xfrm>
          <a:prstGeom prst="rect">
            <a:avLst/>
          </a:prstGeom>
          <a:solidFill>
            <a:srgbClr val="FFFFFF"/>
          </a:solidFill>
          <a:ln w="25400">
            <a:solidFill>
              <a:srgbClr val="155EE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1463040"/>
            <a:ext cx="34747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55EEF"/>
                </a:solidFill>
                <a:latin typeface="微软雅黑" panose="020B0503020204020204" charset="-122"/>
              </a:defRPr>
            </a:pPr>
            <a:r>
              <a:t>功能说明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766E"/>
                </a:solidFill>
                <a:latin typeface="微软雅黑" panose="020B0503020204020204" charset="-122"/>
              </a:defRPr>
            </a:pPr>
            <a:r>
              <a:t>中文原文 + 学生译文 → 得分 → 点评 → 优化参考译文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1089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上栏输入中文原文、下栏输入英文译文，提交后展示：翻译得分、逐条分析（中式英语/漏译/用词/语法）、以及地道的优化参考译文。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13</a:t>
            </a:r>
          </a:p>
        </p:txBody>
      </p:sp>
      <p:pic>
        <p:nvPicPr>
          <p:cNvPr id="13" name="图片 12" descr="屏幕截图 2026-07-07 1550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835" y="1480820"/>
            <a:ext cx="5441950" cy="47351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成果演示 —— 艾宾浩斯复习计划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EE"/>
                </a:solidFill>
                <a:latin typeface="微软雅黑" panose="020B0503020204020204" charset="-122"/>
              </a:defRPr>
            </a:pPr>
            <a:r>
              <a:t>Ebbinghaus Review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3245" y="1737995"/>
            <a:ext cx="7279005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55EE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3464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  <a:latin typeface="微软雅黑" panose="020B0503020204020204" charset="-122"/>
              </a:defRPr>
            </a:pPr>
            <a:r>
              <a:t>（请在此处插入实际截图）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t>推荐尺寸: 1920×1080 或以上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463040"/>
            <a:ext cx="34747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55EEF"/>
                </a:solidFill>
                <a:latin typeface="微软雅黑" panose="020B0503020204020204" charset="-122"/>
              </a:defRPr>
            </a:pPr>
            <a:r>
              <a:t>功能说明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766E"/>
                </a:solidFill>
                <a:latin typeface="微软雅黑" panose="020B0503020204020204" charset="-122"/>
              </a:defRPr>
            </a:pPr>
            <a:r>
              <a:t>D1→D3→D7→D15 四轮自动循环 · 完成标记 · 进度统计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1089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查询待复习错题列表，每个错题显示当前复习节点和「标记完成」按钮。右侧统计面板展示各阶段待复习数量（D1/D3/D7/D15），完成D15后自动归档。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14</a:t>
            </a:r>
          </a:p>
        </p:txBody>
      </p:sp>
      <p:pic>
        <p:nvPicPr>
          <p:cNvPr id="13" name="图片 12" descr="屏幕截图 2026-07-07 1659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245" y="1736725"/>
            <a:ext cx="7279005" cy="411607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成果演示 —— 错题管理中心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EE"/>
                </a:solidFill>
                <a:latin typeface="微软雅黑" panose="020B0503020204020204" charset="-122"/>
              </a:defRPr>
            </a:pPr>
            <a:r>
              <a:t>Error Record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23900" y="1417955"/>
            <a:ext cx="6804660" cy="4812030"/>
          </a:xfrm>
          <a:prstGeom prst="rect">
            <a:avLst/>
          </a:prstGeom>
          <a:solidFill>
            <a:srgbClr val="FFFFFF"/>
          </a:solidFill>
          <a:ln w="25400">
            <a:solidFill>
              <a:srgbClr val="155EE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1463040"/>
            <a:ext cx="34747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55EEF"/>
                </a:solidFill>
                <a:latin typeface="微软雅黑" panose="020B0503020204020204" charset="-122"/>
              </a:defRPr>
            </a:pPr>
            <a:r>
              <a:t>功能说明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766E"/>
                </a:solidFill>
                <a:latin typeface="微软雅黑" panose="020B0503020204020204" charset="-122"/>
              </a:defRPr>
            </a:pPr>
            <a:r>
              <a:t>手动添加 + 自动沉淀 + 逐阶段完成按钮 + 分类统计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1089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下拉选择错题类型（词汇/语法/方法/粗心），手动添加记录。列表展示所有待复习错题，每个提供当前阶段完成按钮，完成后自动推进到下一轮复习节点。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15</a:t>
            </a:r>
          </a:p>
        </p:txBody>
      </p:sp>
      <p:pic>
        <p:nvPicPr>
          <p:cNvPr id="13" name="图片 12" descr="屏幕截图 2026-07-07 1700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155" y="1417955"/>
            <a:ext cx="6786245" cy="48113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成果演示 —— 知识库全局检索与AI回答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EE"/>
                </a:solidFill>
                <a:latin typeface="微软雅黑" panose="020B0503020204020204" charset="-122"/>
              </a:defRPr>
            </a:pPr>
            <a:r>
              <a:t>Knowledge Base Search &amp; AI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09625" y="1437640"/>
            <a:ext cx="6790055" cy="4780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55EEF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1463040"/>
            <a:ext cx="34747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55EEF"/>
                </a:solidFill>
                <a:latin typeface="微软雅黑" panose="020B0503020204020204" charset="-122"/>
              </a:defRPr>
            </a:pPr>
            <a:r>
              <a:t>功能说明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766E"/>
                </a:solidFill>
                <a:latin typeface="微软雅黑" panose="020B0503020204020204" charset="-122"/>
              </a:defRPr>
            </a:pPr>
            <a:r>
              <a:t>类别筛选 → RAG检索 → AI整合回答优先展示 → 原始检索结果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10896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选择检索类别（写作/翻译/词汇/语法/真题/评分规则），输入查询内容，系统先展示AI基于知识库整合的自然语言回答，下方附原始检索结果列表和相关度评分。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16</a:t>
            </a:r>
          </a:p>
        </p:txBody>
      </p:sp>
      <p:pic>
        <p:nvPicPr>
          <p:cNvPr id="13" name="图片 12" descr="屏幕截图 2026-07-07 1700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070" y="1443990"/>
            <a:ext cx="6784975" cy="47739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关键技术难点与解决方案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EE"/>
                </a:solidFill>
                <a:latin typeface="微软雅黑" panose="020B0503020204020204" charset="-122"/>
              </a:defRPr>
            </a:pPr>
            <a:r>
              <a:t>Key Challenges &amp;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904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C2626"/>
                </a:solidFill>
                <a:latin typeface="微软雅黑" panose="020B0503020204020204" charset="-122"/>
              </a:defRPr>
            </a:pPr>
            <a:r>
              <a:t>⚠️  难点1：LLM调用超时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49047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RAGFlow Chat Assistant 带KB检索时，长prompt导致90s+超时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928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766E"/>
                </a:solidFill>
                <a:latin typeface="微软雅黑" panose="020B0503020204020204" charset="-122"/>
              </a:defRPr>
            </a:pPr>
            <a:r>
              <a:t>✅  创建 no-KB Chat Assistant (RAGFLOW_CHAT_ID_LLM)，上游完成检索后，下游纯LLM调用避免冗余KB检索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106984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963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C2626"/>
                </a:solidFill>
                <a:latin typeface="微软雅黑" panose="020B0503020204020204" charset="-122"/>
              </a:defRPr>
            </a:pPr>
            <a:r>
              <a:t>⚠️  难点2：Prompt Token爆炸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49631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RAGFlow全量JSON检索结果直接喂给LLM → token超限 → 拒绝响应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9864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766E"/>
                </a:solidFill>
                <a:latin typeface="微软雅黑" panose="020B0503020204020204" charset="-122"/>
              </a:defRPr>
            </a:pPr>
            <a:r>
              <a:t>✅  实现 _format_rag_context_for_llm() 截断策略：最多5 chunks × 400 chars，总上下文 ≤ 2500 chars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429000"/>
            <a:ext cx="106984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5021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C2626"/>
                </a:solidFill>
                <a:latin typeface="微软雅黑" panose="020B0503020204020204" charset="-122"/>
              </a:defRPr>
            </a:pPr>
            <a:r>
              <a:t>⚠️  难点3：串行检索超时叠加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50215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writing/trans 需要两次检索（query + rule），串行等待=双倍超时风险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904487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766E"/>
                </a:solidFill>
                <a:latin typeface="微软雅黑" panose="020B0503020204020204" charset="-122"/>
              </a:defRPr>
            </a:pPr>
            <a:r>
              <a:t>✅  ThreadPoolExecutor 并行检索：两个请求同时发出，as_completed 收集结果，总耗时=最慢的一次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434840"/>
            <a:ext cx="106984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5079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C2626"/>
                </a:solidFill>
                <a:latin typeface="微软雅黑" panose="020B0503020204020204" charset="-122"/>
              </a:defRPr>
            </a:pPr>
            <a:r>
              <a:t>⚠️  难点4：EasyOCR 兼容性问题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50799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部分环境 numpy 版本不兼容 EasyOCR → 导入直接崩溃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9103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766E"/>
                </a:solidFill>
                <a:latin typeface="微软雅黑" panose="020B0503020204020204" charset="-122"/>
              </a:defRPr>
            </a:pPr>
            <a:r>
              <a:t>✅  try/except BaseException 守护初始化 + 永久禁用标记 + LLM视觉识别回退（DeepSeek图片理解）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440680"/>
            <a:ext cx="106984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5138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C2626"/>
                </a:solidFill>
                <a:latin typeface="微软雅黑" panose="020B0503020204020204" charset="-122"/>
              </a:defRPr>
            </a:pPr>
            <a:r>
              <a:t>⚠️  难点5：LLM JSON解析不稳定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551383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LLM偶尔返回多余文字或非标准JSON格式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9161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766E"/>
                </a:solidFill>
                <a:latin typeface="微软雅黑" panose="020B0503020204020204" charset="-122"/>
              </a:defRPr>
            </a:pPr>
            <a:r>
              <a:t>✅  _loads_llm_json() 多层容错：去掉 ```json``` 包裹 → 正则提取 { } → 兼容RAGFlow原生/OpenAI两种格式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核心算法 —— 艾宾浩斯抗遗忘复习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EE"/>
                </a:solidFill>
                <a:latin typeface="微软雅黑" panose="020B0503020204020204" charset="-122"/>
              </a:defRPr>
            </a:pPr>
            <a:r>
              <a:t>Ebbinghaus Anti-Forgetting Review Algorithm</a:t>
            </a:r>
          </a:p>
        </p:txBody>
      </p:sp>
      <p:sp>
        <p:nvSpPr>
          <p:cNvPr id="5" name="Oval 4"/>
          <p:cNvSpPr/>
          <p:nvPr/>
        </p:nvSpPr>
        <p:spPr>
          <a:xfrm>
            <a:off x="1005840" y="1645920"/>
            <a:ext cx="1097280" cy="10972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Day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488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错题创建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低分自动触发</a:t>
            </a:r>
            <a:br/>
            <a:r>
              <a:t>或手动添加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3291840" y="1645920"/>
            <a:ext cx="1097280" cy="1097280"/>
          </a:xfrm>
          <a:prstGeom prst="ellipse">
            <a:avLst/>
          </a:prstGeom>
          <a:solidFill>
            <a:srgbClr val="155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7830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1488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第1轮复习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9718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首次回顾</a:t>
            </a:r>
            <a:br/>
            <a:r>
              <a:t>识别知识盲区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5577840" y="1645920"/>
            <a:ext cx="1097280" cy="109728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60" y="17830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Day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21488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第2轮复习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9718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间隔2天巩固</a:t>
            </a:r>
            <a:br/>
            <a:r>
              <a:t>强化记忆痕迹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7863840" y="1645920"/>
            <a:ext cx="1097280" cy="10972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17830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Day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21488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第3轮复习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29718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间隔4天深化</a:t>
            </a:r>
            <a:br/>
            <a:r>
              <a:t>长时记忆转化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10149840" y="1645920"/>
            <a:ext cx="1097280" cy="10972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63480" y="1805940"/>
            <a:ext cx="1269365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Day 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21488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第4轮复习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9718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间隔8天收尾</a:t>
            </a:r>
            <a:br/>
            <a:r>
              <a:t>完成抗遗忘周期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3840480"/>
            <a:ext cx="1033272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2365" y="3886200"/>
            <a:ext cx="9601200" cy="2353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60"/>
              </a:spcAft>
              <a:defRPr sz="1200">
                <a:solidFill>
                  <a:srgbClr val="A5B4C8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360"/>
              </a:spcAft>
              <a:defRPr sz="1200">
                <a:solidFill>
                  <a:srgbClr val="A5B4C8"/>
                </a:solidFill>
                <a:latin typeface="微软雅黑" panose="020B0503020204020204" charset="-122"/>
              </a:defRPr>
            </a:pPr>
            <a:r>
              <a:t>    if not review_d1 and now &gt;= first_wrong + timedelta(days=1):</a:t>
            </a:r>
          </a:p>
          <a:p>
            <a:pPr>
              <a:spcAft>
                <a:spcPts val="360"/>
              </a:spcAft>
              <a:defRPr sz="1200">
                <a:solidFill>
                  <a:srgbClr val="A5B4C8"/>
                </a:solidFill>
                <a:latin typeface="微软雅黑" panose="020B0503020204020204" charset="-122"/>
              </a:defRPr>
            </a:pPr>
            <a:r>
              <a:t>        return '第1轮(1天后)复盘'</a:t>
            </a:r>
          </a:p>
          <a:p>
            <a:pPr>
              <a:spcAft>
                <a:spcPts val="360"/>
              </a:spcAft>
              <a:defRPr sz="1200">
                <a:solidFill>
                  <a:srgbClr val="A5B4C8"/>
                </a:solidFill>
                <a:latin typeface="微软雅黑" panose="020B0503020204020204" charset="-122"/>
              </a:defRPr>
            </a:pPr>
            <a:r>
              <a:t>    if review_d1 and not review_d3 and now &gt;= first_wrong + timedelta(days=3):</a:t>
            </a:r>
          </a:p>
          <a:p>
            <a:pPr>
              <a:spcAft>
                <a:spcPts val="360"/>
              </a:spcAft>
              <a:defRPr sz="1200">
                <a:solidFill>
                  <a:srgbClr val="A5B4C8"/>
                </a:solidFill>
                <a:latin typeface="微软雅黑" panose="020B0503020204020204" charset="-122"/>
              </a:defRPr>
            </a:pPr>
            <a:r>
              <a:t>        return '第2轮(3天后)复盘'</a:t>
            </a:r>
          </a:p>
          <a:p>
            <a:pPr>
              <a:spcAft>
                <a:spcPts val="360"/>
              </a:spcAft>
              <a:defRPr sz="1200">
                <a:solidFill>
                  <a:srgbClr val="A5B4C8"/>
                </a:solidFill>
                <a:latin typeface="微软雅黑" panose="020B0503020204020204" charset="-122"/>
              </a:defRPr>
            </a:pPr>
            <a:r>
              <a:t>    if review_d3 and not review_d7 and now &gt;= first_wrong + timedelta(days=7):</a:t>
            </a:r>
          </a:p>
          <a:p>
            <a:pPr>
              <a:spcAft>
                <a:spcPts val="360"/>
              </a:spcAft>
              <a:defRPr sz="1200">
                <a:solidFill>
                  <a:srgbClr val="A5B4C8"/>
                </a:solidFill>
                <a:latin typeface="微软雅黑" panose="020B0503020204020204" charset="-122"/>
              </a:defRPr>
            </a:pPr>
            <a:r>
              <a:t>        return '第3轮(7天后)复盘'</a:t>
            </a:r>
          </a:p>
          <a:p>
            <a:pPr>
              <a:spcAft>
                <a:spcPts val="360"/>
              </a:spcAft>
              <a:defRPr sz="1200">
                <a:solidFill>
                  <a:srgbClr val="A5B4C8"/>
                </a:solidFill>
                <a:latin typeface="微软雅黑" panose="020B0503020204020204" charset="-122"/>
              </a:defRPr>
            </a:pPr>
            <a:r>
              <a:t>    if review_d7 and not review_d15 and now &gt;= first_wrong + timedelta(days=15):</a:t>
            </a:r>
          </a:p>
          <a:p>
            <a:pPr>
              <a:spcAft>
                <a:spcPts val="360"/>
              </a:spcAft>
              <a:defRPr sz="1200">
                <a:solidFill>
                  <a:srgbClr val="A5B4C8"/>
                </a:solidFill>
                <a:latin typeface="微软雅黑" panose="020B0503020204020204" charset="-122"/>
              </a:defRPr>
            </a:pPr>
            <a:r>
              <a:t>        return '第4轮(15天后)复盘'</a:t>
            </a:r>
          </a:p>
          <a:p>
            <a:pPr>
              <a:spcAft>
                <a:spcPts val="360"/>
              </a:spcAft>
              <a:defRPr sz="1200">
                <a:solidFill>
                  <a:srgbClr val="A5B4C8"/>
                </a:solidFill>
                <a:latin typeface="微软雅黑" panose="020B0503020204020204" charset="-122"/>
              </a:defRPr>
            </a:pPr>
            <a:r>
              <a:t>    return None   # 未到时间或已完成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心得体会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EE"/>
                </a:solidFill>
                <a:latin typeface="微软雅黑" panose="020B0503020204020204" charset="-122"/>
              </a:defRPr>
            </a:pPr>
            <a:r>
              <a:t>Reflections &amp;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52575"/>
            <a:ext cx="10698480" cy="23736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55EEF"/>
                </a:solidFill>
                <a:latin typeface="微软雅黑" panose="020B0503020204020204" charset="-122"/>
              </a:defRPr>
            </a:pPr>
            <a:r>
              <a:t>🧠  技术收获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50"/>
              </a:spcAft>
              <a:defRPr sz="15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• 深入理解了 RAG（检索增强生成）架构的完整链路：文档解析→向量化→检索→LLM整合</a:t>
            </a:r>
          </a:p>
          <a:p>
            <a:pPr>
              <a:spcAft>
                <a:spcPts val="1050"/>
              </a:spcAft>
              <a:defRPr sz="15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• 掌握了 LangGraph 多智能体编排模式：StateGraph + 条件路由 + 状态传递</a:t>
            </a:r>
          </a:p>
          <a:p>
            <a:pPr>
              <a:spcAft>
                <a:spcPts val="1050"/>
              </a:spcAft>
              <a:defRPr sz="15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• 学会 RAGFlow 的 Docker 部署、知识库管理、OpenAI兼容API调用</a:t>
            </a:r>
          </a:p>
          <a:p>
            <a:pPr>
              <a:spcAft>
                <a:spcPts val="1050"/>
              </a:spcAft>
              <a:defRPr sz="15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• 实践了 Prompt Engineering：JSON结构化输出、上下文截断、多格式兼容解析</a:t>
            </a:r>
          </a:p>
          <a:p>
            <a:pPr>
              <a:spcAft>
                <a:spcPts val="1050"/>
              </a:spcAft>
              <a:defRPr sz="15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• 理解了并发优化的重要性：ThreadPoolExecutor 并行检索替代串行，大幅降低超时风险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069080"/>
            <a:ext cx="10698480" cy="25520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2062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55EEF"/>
                </a:solidFill>
                <a:latin typeface="微软雅黑" panose="020B0503020204020204" charset="-122"/>
              </a:defRPr>
            </a:pPr>
            <a:r>
              <a:t>💡  项目感悟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7091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50"/>
              </a:spcAft>
              <a:defRPr sz="15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• AI + 教育是极具价值的应用方向：个性化批改+科学复习计划真正能帮到学生</a:t>
            </a:r>
          </a:p>
          <a:p>
            <a:pPr>
              <a:spcAft>
                <a:spcPts val="1050"/>
              </a:spcAft>
              <a:defRPr sz="15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• 工程化思维很重要：超时控制、错误兜底、多级回退策略是生产级系统的基石</a:t>
            </a:r>
          </a:p>
          <a:p>
            <a:pPr>
              <a:spcAft>
                <a:spcPts val="1050"/>
              </a:spcAft>
              <a:defRPr sz="15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• 前后端分离 + RESTful API 让系统扩展更灵活，后续可接入小程序/App</a:t>
            </a:r>
          </a:p>
          <a:p>
            <a:pPr>
              <a:spcAft>
                <a:spcPts val="1050"/>
              </a:spcAft>
              <a:defRPr sz="15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• 团队协作分工明确：后端Agent编排、前端交互、知识库建设、测试优化各司其职</a:t>
            </a:r>
          </a:p>
          <a:p>
            <a:pPr>
              <a:spcAft>
                <a:spcPts val="1050"/>
              </a:spcAft>
              <a:defRPr sz="150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• 艾宾浩斯遗忘曲线与AI结合，让'因材施教'从理念走向落地的产品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未来展望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EE"/>
                </a:solidFill>
                <a:latin typeface="微软雅黑" panose="020B0503020204020204" charset="-122"/>
              </a:defRPr>
            </a:pPr>
            <a:r>
              <a:t>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32004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320040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📱  多端适配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432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微信小程序 + 移动端App，随时随地复习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645920"/>
            <a:ext cx="32004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645920"/>
            <a:ext cx="320040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011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🎯  智能组卷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7432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基于错题分布自动生成个性化模拟试卷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645920"/>
            <a:ext cx="32004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320040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011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🗣️  口语评估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432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接入语音识别 + 发音评分，覆盖听说读写全场景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023360"/>
            <a:ext cx="32004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023360"/>
            <a:ext cx="320040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389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📈  学习画像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1206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数据可视化Dashboard：能力雷达图、进步曲线、薄弱项追踪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4023360"/>
            <a:ext cx="32004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320040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4389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🔗  教辅联动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51206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教师端布置作业 → 学生端完成 → AI批改 → 教师查看班级报告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4023360"/>
            <a:ext cx="32004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4023360"/>
            <a:ext cx="320040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389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🌍  多语言扩展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1206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考研英语、雅思/托福、翻译资格考试等更多备考场景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55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BCCEE"/>
                </a:solidFill>
                <a:latin typeface="微软雅黑" panose="020B0503020204020204" charset="-122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55EEF"/>
                </a:solidFill>
                <a:latin typeface="微软雅黑" panose="020B0503020204020204" charset="-122"/>
              </a:defRPr>
            </a:pPr>
            <a:r>
              <a:t>大学英语四六级抗遗忘复习系统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基于 RAGFlow + LangGraph + DeepSeek 的多智能体协同复习平台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F172A"/>
                </a:solidFill>
                <a:latin typeface="微软雅黑" panose="020B0503020204020204" charset="-122"/>
              </a:defRPr>
            </a:pPr>
            <a:r>
              <a:t>🤖  AI让每一次复习都精准高效  ·  科学抗遗忘  ·  个性化提分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748B"/>
                </a:solidFill>
                <a:latin typeface="微软雅黑" panose="020B0503020204020204" charset="-122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99.5999212598425,&quot;left&quot;:72,&quot;top&quot;:115.2,&quot;width&quot;:813.6}"/>
</p:tagLst>
</file>

<file path=ppt/tags/tag2.xml><?xml version="1.0" encoding="utf-8"?>
<p:tagLst xmlns:p="http://schemas.openxmlformats.org/presentationml/2006/main">
  <p:tag name="KSO_WM_DIAGRAM_VIRTUALLY_FRAME" val="{&quot;height&quot;:399.5999212598425,&quot;left&quot;:72,&quot;top&quot;:115.2,&quot;width&quot;:813.6}"/>
</p:tagLst>
</file>

<file path=ppt/tags/tag3.xml><?xml version="1.0" encoding="utf-8"?>
<p:tagLst xmlns:p="http://schemas.openxmlformats.org/presentationml/2006/main">
  <p:tag name="KSO_WM_DIAGRAM_VIRTUALLY_FRAME" val="{&quot;height&quot;:399.5999212598425,&quot;left&quot;:72,&quot;top&quot;:115.2,&quot;width&quot;:813.6}"/>
</p:tagLst>
</file>

<file path=ppt/tags/tag4.xml><?xml version="1.0" encoding="utf-8"?>
<p:tagLst xmlns:p="http://schemas.openxmlformats.org/presentationml/2006/main">
  <p:tag name="KSO_WM_DIAGRAM_VIRTUALLY_FRAME" val="{&quot;height&quot;:399.5999212598425,&quot;left&quot;:72,&quot;top&quot;:115.2,&quot;width&quot;:813.6}"/>
</p:tagLst>
</file>

<file path=ppt/tags/tag5.xml><?xml version="1.0" encoding="utf-8"?>
<p:tagLst xmlns:p="http://schemas.openxmlformats.org/presentationml/2006/main">
  <p:tag name="KSO_WM_DIAGRAM_VIRTUALLY_FRAME" val="{&quot;height&quot;:399.5999212598425,&quot;left&quot;:72,&quot;top&quot;:115.2,&quot;width&quot;:813.6}"/>
</p:tagLst>
</file>

<file path=ppt/tags/tag6.xml><?xml version="1.0" encoding="utf-8"?>
<p:tagLst xmlns:p="http://schemas.openxmlformats.org/presentationml/2006/main">
  <p:tag name="KSO_WM_DIAGRAM_VIRTUALLY_FRAME" val="{&quot;height&quot;:399.5999212598425,&quot;left&quot;:72,&quot;top&quot;:115.2,&quot;width&quot;:813.6}"/>
</p:tagLst>
</file>

<file path=ppt/tags/tag7.xml><?xml version="1.0" encoding="utf-8"?>
<p:tagLst xmlns:p="http://schemas.openxmlformats.org/presentationml/2006/main">
  <p:tag name="KSO_WM_DIAGRAM_VIRTUALLY_FRAME" val="{&quot;height&quot;:399.5999212598425,&quot;left&quot;:72,&quot;top&quot;:115.2,&quot;width&quot;:813.6}"/>
</p:tagLst>
</file>

<file path=ppt/tags/tag8.xml><?xml version="1.0" encoding="utf-8"?>
<p:tagLst xmlns:p="http://schemas.openxmlformats.org/presentationml/2006/main">
  <p:tag name="KSO_WM_DIAGRAM_VIRTUALLY_FRAME" val="{&quot;height&quot;:399.5999212598425,&quot;left&quot;:72,&quot;top&quot;:115.2,&quot;width&quot;:813.6}"/>
</p:tagLst>
</file>

<file path=ppt/tags/tag9.xml><?xml version="1.0" encoding="utf-8"?>
<p:tagLst xmlns:p="http://schemas.openxmlformats.org/presentationml/2006/main">
  <p:tag name="KSO_WM_DIAGRAM_VIRTUALLY_FRAME" val="{&quot;height&quot;:399.5999212598425,&quot;left&quot;:72,&quot;top&quot;:115.2,&quot;width&quot;:813.6}"/>
</p:tagLst>
</file>

<file path=ppt/tags/tag10.xml><?xml version="1.0" encoding="utf-8"?>
<p:tagLst xmlns:p="http://schemas.openxmlformats.org/presentationml/2006/main">
  <p:tag name="KSO_WM_DIAGRAM_VIRTUALLY_FRAME" val="{&quot;height&quot;:399.5999212598425,&quot;left&quot;:72,&quot;top&quot;:115.2,&quot;width&quot;:813.6}"/>
</p:tagLst>
</file>

<file path=ppt/tags/tag11.xml><?xml version="1.0" encoding="utf-8"?>
<p:tagLst xmlns:p="http://schemas.openxmlformats.org/presentationml/2006/main">
  <p:tag name="KSO_WM_DIAGRAM_VIRTUALLY_FRAME" val="{&quot;height&quot;:399.5999212598425,&quot;left&quot;:72,&quot;top&quot;:115.2,&quot;width&quot;:813.6}"/>
</p:tagLst>
</file>

<file path=ppt/tags/tag12.xml><?xml version="1.0" encoding="utf-8"?>
<p:tagLst xmlns:p="http://schemas.openxmlformats.org/presentationml/2006/main">
  <p:tag name="KSO_WM_DIAGRAM_VIRTUALLY_FRAME" val="{&quot;height&quot;:399.5999212598425,&quot;left&quot;:72,&quot;top&quot;:115.2,&quot;width&quot;:813.6}"/>
</p:tagLst>
</file>

<file path=ppt/tags/tag13.xml><?xml version="1.0" encoding="utf-8"?>
<p:tagLst xmlns:p="http://schemas.openxmlformats.org/presentationml/2006/main">
  <p:tag name="KSO_WM_DIAGRAM_VIRTUALLY_FRAME" val="{&quot;height&quot;:399.5999212598425,&quot;left&quot;:72,&quot;top&quot;:115.2,&quot;width&quot;:813.6}"/>
</p:tagLst>
</file>

<file path=ppt/tags/tag14.xml><?xml version="1.0" encoding="utf-8"?>
<p:tagLst xmlns:p="http://schemas.openxmlformats.org/presentationml/2006/main">
  <p:tag name="KSO_WM_DIAGRAM_VIRTUALLY_FRAME" val="{&quot;height&quot;:399.5999212598425,&quot;left&quot;:72,&quot;top&quot;:115.2,&quot;width&quot;:813.6}"/>
</p:tagLst>
</file>

<file path=ppt/tags/tag15.xml><?xml version="1.0" encoding="utf-8"?>
<p:tagLst xmlns:p="http://schemas.openxmlformats.org/presentationml/2006/main">
  <p:tag name="KSO_WM_DIAGRAM_VIRTUALLY_FRAME" val="{&quot;height&quot;:399.5999212598425,&quot;left&quot;:72,&quot;top&quot;:115.2,&quot;width&quot;:813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6512</Words>
  <Application>WPS 演示</Application>
  <PresentationFormat>On-screen Show (4:3)</PresentationFormat>
  <Paragraphs>558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Tan</cp:lastModifiedBy>
  <cp:revision>6</cp:revision>
  <dcterms:created xsi:type="dcterms:W3CDTF">2013-01-27T09:14:00Z</dcterms:created>
  <dcterms:modified xsi:type="dcterms:W3CDTF">2026-07-07T09:17:26Z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64BDBD54E5CA422D9BEAEE079CBA8253_12</vt:lpwstr>
  </property>
</Properties>
</file>